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1772100" y="3438516"/>
            <a:ext cx="12711864" cy="2361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4600" b="1" i="0" dirty="0">
                <a:solidFill>
                  <a:srgbClr val="FFFFFF"/>
                </a:solidFill>
                <a:latin typeface="Georgia"/>
                <a:cs typeface="Georgia"/>
              </a:rPr>
              <a:t>Influencia de la precipitación en la siniestralidad vial del Distrito de Medellín (2022–2024)</a:t>
            </a:r>
          </a:p>
        </p:txBody>
      </p:sp>
      <p:sp>
        <p:nvSpPr>
          <p:cNvPr id="4" name="Autor"/>
          <p:cNvSpPr txBox="1"/>
          <p:nvPr/>
        </p:nvSpPr>
        <p:spPr>
          <a:xfrm>
            <a:off x="1181400" y="5941600"/>
            <a:ext cx="13893264" cy="5195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3000" b="1" i="0" dirty="0">
                <a:solidFill>
                  <a:srgbClr val="FFFFFF"/>
                </a:solidFill>
                <a:latin typeface="Calibri"/>
                <a:cs typeface="Calibri"/>
              </a:rPr>
              <a:t>Jorge Andres Vivas Moreno, Ingeniero Civil e Ingeniero Sanitario</a:t>
            </a:r>
          </a:p>
        </p:txBody>
      </p:sp>
      <p:sp>
        <p:nvSpPr>
          <p:cNvPr id="5" name="Programa"/>
          <p:cNvSpPr txBox="1"/>
          <p:nvPr/>
        </p:nvSpPr>
        <p:spPr>
          <a:xfrm>
            <a:off x="1181400" y="6650020"/>
            <a:ext cx="13893264" cy="49589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800" b="0" i="0" dirty="0">
                <a:solidFill>
                  <a:srgbClr val="FFFFFF"/>
                </a:solidFill>
                <a:latin typeface="Calibri"/>
                <a:cs typeface="Calibri"/>
              </a:rPr>
              <a:t>Maestría en Ingeniería - Recursos Hidráulicos</a:t>
            </a:r>
          </a:p>
        </p:txBody>
      </p:sp>
      <p:sp>
        <p:nvSpPr>
          <p:cNvPr id="6" name="Curso"/>
          <p:cNvSpPr txBox="1"/>
          <p:nvPr/>
        </p:nvSpPr>
        <p:spPr>
          <a:xfrm>
            <a:off x="1181400" y="7500124"/>
            <a:ext cx="13893264" cy="4250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400" b="0" i="0" dirty="0">
                <a:solidFill>
                  <a:srgbClr val="FFFFFF"/>
                </a:solidFill>
                <a:latin typeface="Calibri"/>
                <a:cs typeface="Calibri"/>
              </a:rPr>
              <a:t>Análisis Geoespacial · Prof. Edier Vicente Aristizábal Giraldo · Semestre 2026-02</a:t>
            </a:r>
          </a:p>
        </p:txBody>
      </p:sp>
      <p:sp>
        <p:nvSpPr>
          <p:cNvPr id="7" name="Pie"/>
          <p:cNvSpPr txBox="1"/>
          <p:nvPr/>
        </p:nvSpPr>
        <p:spPr>
          <a:xfrm>
            <a:off x="614328" y="8397456"/>
            <a:ext cx="10632600" cy="33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CO" sz="1700" b="0" i="0" dirty="0">
                <a:solidFill>
                  <a:srgbClr val="FFFFFF"/>
                </a:solidFill>
                <a:latin typeface="Calibri"/>
                <a:cs typeface="Calibri"/>
              </a:rPr>
              <a:t>Departamento de Geociencias y Medio Ambiente · Facultad de Minas · Sede Medellín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Pregunta"/>
          <p:cNvSpPr txBox="1"/>
          <p:nvPr/>
        </p:nvSpPr>
        <p:spPr>
          <a:xfrm>
            <a:off x="1653960" y="1454940"/>
            <a:ext cx="12948144" cy="6611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es-CO" sz="4400" dirty="0">
                <a:solidFill>
                  <a:srgbClr val="FFFFFF"/>
                </a:solidFill>
                <a:latin typeface="Georgia"/>
                <a:cs typeface="Georgia"/>
              </a:rPr>
              <a:t>¿La precipitación y la pendiente de las vías aumentan la ocurrencia y la gravedad de los siniestros viales en Medellín, y en qué zonas de la ciudad es mayor ese efecto?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Pendientes"/>
          <p:cNvSpPr/>
          <p:nvPr/>
        </p:nvSpPr>
        <p:spPr>
          <a:xfrm>
            <a:off x="11365068" y="5941600"/>
            <a:ext cx="4253040" cy="1393226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324C41"/>
            </a:solidFill>
          </a:ln>
          <a:effectLst>
            <a:outerShdw blurRad="76200" dist="38100" dir="5400000" algn="t" rotWithShape="0">
              <a:srgbClr val="000000">
                <a:alpha val="25000"/>
              </a:srgbClr>
            </a:outerShdw>
          </a:effectLst>
        </p:spPr>
        <p:txBody>
          <a:bodyPr wrap="square" lIns="91440" rIns="91440" anchor="ctr">
            <a:noAutofit/>
          </a:bodyPr>
          <a:lstStyle/>
          <a:p>
            <a:pPr algn="ctr"/>
            <a:r>
              <a:rPr lang="es-CO" sz="2300" b="1" dirty="0">
                <a:solidFill>
                  <a:srgbClr val="111111"/>
                </a:solidFill>
                <a:latin typeface="Arial"/>
              </a:rPr>
              <a:t>Raster de pendientes</a:t>
            </a:r>
            <a:r>
              <a:rPr lang="es-CO" sz="2300" dirty="0">
                <a:solidFill>
                  <a:srgbClr val="111111"/>
                </a:solidFill>
                <a:latin typeface="Arial"/>
              </a:rPr>
              <a:t> de Medellín (%).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